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402414-6B45-4081-8ADF-740E495A11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8BFD74-C88D-4315-BCA7-D2246927D3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56811A-309A-4C46-858A-D35F3D9CE1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B958C4-518B-4D1D-B5C3-8DF8625BBC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5232FB-ABF2-4C2E-A58B-4029E9F35B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664280-D78F-4B3C-89A8-66B8FA5088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AF28CC-3060-4C31-A674-67D9699806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B437C-9209-4307-8A59-8A847B6EDC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772400" y="182880"/>
            <a:ext cx="731160" cy="731160"/>
          </a:xfrm>
          <a:prstGeom prst="ellipse">
            <a:avLst/>
          </a:prstGeom>
          <a:solidFill>
            <a:srgbClr val="38b2d8">
              <a:alpha val="12000"/>
            </a:srgbClr>
          </a:solidFill>
          <a:ln w="19050">
            <a:solidFill>
              <a:srgbClr val="38b2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503920" y="1005840"/>
            <a:ext cx="456840" cy="456840"/>
          </a:xfrm>
          <a:prstGeom prst="ellipse">
            <a:avLst/>
          </a:prstGeom>
          <a:solidFill>
            <a:srgbClr val="38b2d8">
              <a:alpha val="8000"/>
            </a:srgbClr>
          </a:solidFill>
          <a:ln w="19050">
            <a:solidFill>
              <a:srgbClr val="38b2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82880" y="3200400"/>
            <a:ext cx="1005480" cy="1005480"/>
          </a:xfrm>
          <a:prstGeom prst="ellipse">
            <a:avLst/>
          </a:prstGeom>
          <a:solidFill>
            <a:srgbClr val="38b2d8">
              <a:alpha val="10000"/>
            </a:srgbClr>
          </a:solidFill>
          <a:ln w="19050">
            <a:solidFill>
              <a:srgbClr val="38b2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48640" y="274320"/>
            <a:ext cx="548280" cy="548280"/>
          </a:xfrm>
          <a:prstGeom prst="ellipse">
            <a:avLst/>
          </a:prstGeom>
          <a:solidFill>
            <a:srgbClr val="38b2d8">
              <a:alpha val="9000"/>
            </a:srgbClr>
          </a:solidFill>
          <a:ln w="19050">
            <a:solidFill>
              <a:srgbClr val="38b2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132320" y="4389120"/>
            <a:ext cx="639720" cy="639720"/>
          </a:xfrm>
          <a:prstGeom prst="ellipse">
            <a:avLst/>
          </a:prstGeom>
          <a:solidFill>
            <a:srgbClr val="38b2d8">
              <a:alpha val="11000"/>
            </a:srgbClr>
          </a:solidFill>
          <a:ln w="19050">
            <a:solidFill>
              <a:srgbClr val="38b2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38b2d8"/>
          </a:solidFill>
          <a:ln w="12700">
            <a:solidFill>
              <a:srgbClr val="38b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8872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Rainfall Prediction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15631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Random Forest Classifier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By- ANIRUDDHA GARAI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REG- 2511022250075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3200400" y="2834640"/>
            <a:ext cx="2742840" cy="36360"/>
          </a:xfrm>
          <a:prstGeom prst="rect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457200" y="3108960"/>
            <a:ext cx="1828440" cy="1188360"/>
          </a:xfrm>
          <a:prstGeom prst="rect">
            <a:avLst/>
          </a:prstGeom>
          <a:solidFill>
            <a:srgbClr val="0d2b55">
              <a:alpha val="70000"/>
            </a:srgbClr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31546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366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200" y="3657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Data Points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2560320" y="3108960"/>
            <a:ext cx="1828440" cy="1188360"/>
          </a:xfrm>
          <a:prstGeom prst="rect">
            <a:avLst/>
          </a:prstGeom>
          <a:solidFill>
            <a:srgbClr val="0d2b55">
              <a:alpha val="70000"/>
            </a:srgbClr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2560320" y="31546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2560320" y="3657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Features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663440" y="3108960"/>
            <a:ext cx="1828440" cy="1188360"/>
          </a:xfrm>
          <a:prstGeom prst="rect">
            <a:avLst/>
          </a:prstGeom>
          <a:solidFill>
            <a:srgbClr val="0d2b55">
              <a:alpha val="70000"/>
            </a:srgbClr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4663440" y="31546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89%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4663440" y="3657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6766560" y="3108960"/>
            <a:ext cx="1828440" cy="1188360"/>
          </a:xfrm>
          <a:prstGeom prst="rect">
            <a:avLst/>
          </a:prstGeom>
          <a:solidFill>
            <a:srgbClr val="0d2b55">
              <a:alpha val="70000"/>
            </a:srgbClr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6766560" y="31546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~0.94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6766560" y="3657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AUC-ROC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0" y="4800600"/>
            <a:ext cx="9143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Machine Learning | Classification Project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080" cy="5143320"/>
          </a:xfrm>
          <a:prstGeom prst="rect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182880" y="1828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1a7fa8">
                    <a:alpha val="40000"/>
                  </a:srgbClr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27432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274320" y="1005840"/>
            <a:ext cx="3840120" cy="1645560"/>
          </a:xfrm>
          <a:prstGeom prst="rect">
            <a:avLst/>
          </a:prstGeom>
          <a:solidFill>
            <a:srgbClr val="0d2b55"/>
          </a:solidFill>
          <a:ln w="12700">
            <a:solidFill>
              <a:srgbClr val="38b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457200" y="10972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38b2d8"/>
                </a:solidFill>
                <a:effectLst/>
                <a:uFillTx/>
                <a:latin typeface="Calibri"/>
                <a:ea typeface="Calibri"/>
              </a:rPr>
              <a:t>🎯  Objective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457200" y="1463040"/>
            <a:ext cx="3474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Predict whether it will rain on a given day using weather features. Binary classification: Rain vs. No Rain.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274320" y="2788920"/>
            <a:ext cx="3840120" cy="1645560"/>
          </a:xfrm>
          <a:prstGeom prst="rect">
            <a:avLst/>
          </a:prstGeom>
          <a:solidFill>
            <a:srgbClr val="0d2b55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457200" y="28803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📁  Dataset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457200" y="3246120"/>
            <a:ext cx="3474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• 366 rows × 13 columns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• Features: pressure, temp, humidity, dewpoint, cloud, sunshine, wind, etc.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• Target: rainfall  (yes / no)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4572000" y="1005840"/>
            <a:ext cx="4297320" cy="3428640"/>
          </a:xfrm>
          <a:prstGeom prst="rect">
            <a:avLst/>
          </a:prstGeom>
          <a:solidFill>
            <a:srgbClr val="0d2b55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4754880" y="10972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38b2d8"/>
                </a:solidFill>
                <a:effectLst/>
                <a:uFillTx/>
                <a:latin typeface="Calibri"/>
                <a:ea typeface="Calibri"/>
              </a:rPr>
              <a:t>ML Pipeline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1"/>
          <p:cNvSpPr/>
          <p:nvPr/>
        </p:nvSpPr>
        <p:spPr>
          <a:xfrm>
            <a:off x="4754880" y="1600200"/>
            <a:ext cx="319680" cy="319680"/>
          </a:xfrm>
          <a:prstGeom prst="ellipse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4754880" y="1600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5166360" y="16185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Data Collection &amp; EDA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4754880" y="2148840"/>
            <a:ext cx="319680" cy="319680"/>
          </a:xfrm>
          <a:prstGeom prst="ellipse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4754880" y="21488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5166360" y="21672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Preprocessing &amp; Balancing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7"/>
          <p:cNvSpPr/>
          <p:nvPr/>
        </p:nvSpPr>
        <p:spPr>
          <a:xfrm>
            <a:off x="4754880" y="2697480"/>
            <a:ext cx="319680" cy="319680"/>
          </a:xfrm>
          <a:prstGeom prst="ellipse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4754880" y="26974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5166360" y="27158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Random Forest + GridSearch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0"/>
          <p:cNvSpPr/>
          <p:nvPr/>
        </p:nvSpPr>
        <p:spPr>
          <a:xfrm>
            <a:off x="4754880" y="3246120"/>
            <a:ext cx="319680" cy="319680"/>
          </a:xfrm>
          <a:prstGeom prst="ellipse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4754880" y="32461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5166360" y="32644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Evaluation &amp; Feature Importance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3"/>
          <p:cNvSpPr/>
          <p:nvPr/>
        </p:nvSpPr>
        <p:spPr>
          <a:xfrm>
            <a:off x="4754880" y="3794760"/>
            <a:ext cx="319680" cy="319680"/>
          </a:xfrm>
          <a:prstGeom prst="ellipse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4754880" y="37947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5166360" y="38131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Save Model (.pkl)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080" cy="51433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182880" y="1828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5c842">
                    <a:alpha val="40000"/>
                  </a:srgbClr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27432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&amp; Exploratory Analysis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274320" y="1005840"/>
            <a:ext cx="4114440" cy="3474360"/>
          </a:xfrm>
          <a:prstGeom prst="rect">
            <a:avLst/>
          </a:prstGeom>
          <a:solidFill>
            <a:srgbClr val="0d2b55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57200" y="10972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Class Distribution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731520" y="1463040"/>
            <a:ext cx="1096920" cy="2285640"/>
          </a:xfrm>
          <a:prstGeom prst="rect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731520" y="1325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249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640080" y="41605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Yes (Rain)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2194560" y="2670120"/>
            <a:ext cx="1096920" cy="1078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2194560" y="25603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2103120" y="41605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No (Rain)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457200" y="44989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⚠ Imbalance Ratio  2.13 :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4572000" y="1005840"/>
            <a:ext cx="4297320" cy="3474360"/>
          </a:xfrm>
          <a:prstGeom prst="rect">
            <a:avLst/>
          </a:prstGeom>
          <a:solidFill>
            <a:srgbClr val="0d2b55"/>
          </a:solidFill>
          <a:ln w="12700">
            <a:solidFill>
              <a:srgbClr val="38b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754880" y="10972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38b2d8"/>
                </a:solidFill>
                <a:effectLst/>
                <a:uFillTx/>
                <a:latin typeface="Calibri"/>
                <a:ea typeface="Calibri"/>
              </a:rPr>
              <a:t>Key EDA Findings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754880" y="16002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💧  Humidity &amp; Dewpoint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4754880" y="18928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Strong positive correlation with rainfall occurrence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4754880" y="23500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☁️  Cloud Cover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4754880" y="26427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Higher cloud values consistently linked to rain days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4754880" y="30999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☀️  Sunshine Hours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4754880" y="33922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Inversely correlated — low sunshine → rain likely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4754880" y="38494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🌡️  Temperature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4754880" y="41421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min/max/avg temp show moderate predictive value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080" cy="5143320"/>
          </a:xfrm>
          <a:prstGeom prst="rect">
            <a:avLst/>
          </a:prstGeom>
          <a:solidFill>
            <a:srgbClr val="52c47e"/>
          </a:solidFill>
          <a:ln w="12700">
            <a:solidFill>
              <a:srgbClr val="52c4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182880" y="1828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52c47e">
                    <a:alpha val="40000"/>
                  </a:srgbClr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27432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Preprocessing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274320" y="1005840"/>
            <a:ext cx="8595000" cy="1170000"/>
          </a:xfrm>
          <a:prstGeom prst="rect">
            <a:avLst/>
          </a:prstGeom>
          <a:solidFill>
            <a:srgbClr val="0d2b55"/>
          </a:solidFill>
          <a:ln w="1905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274320" y="1005840"/>
            <a:ext cx="72720" cy="1170000"/>
          </a:xfrm>
          <a:prstGeom prst="rect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502920" y="1078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7fa8"/>
                </a:solidFill>
                <a:effectLst/>
                <a:uFillTx/>
                <a:latin typeface="Calibri"/>
                <a:ea typeface="Calibri"/>
              </a:rPr>
              <a:t>Step 1 — Missing Value Imputation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502920" y="1398960"/>
            <a:ext cx="8229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winddirection &amp; windspeed contained null values.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Filled using column median — a robust strategy that handles skewed distributions without being influenced by outliers.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274320" y="2331720"/>
            <a:ext cx="8595000" cy="1170000"/>
          </a:xfrm>
          <a:prstGeom prst="rect">
            <a:avLst/>
          </a:prstGeom>
          <a:solidFill>
            <a:srgbClr val="0d2b55"/>
          </a:solidFill>
          <a:ln w="1905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274320" y="2331720"/>
            <a:ext cx="72720" cy="11700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502920" y="24048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Step 2 — Target Encoding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502920" y="2724840"/>
            <a:ext cx="8229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Converted string labels to binary integers: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  yes  →  1  (Rain)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  no   →  0  (No Rain)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Strip whitespace &amp; lowercase applied first to avoid mismatches.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274320" y="3657600"/>
            <a:ext cx="8595000" cy="1170000"/>
          </a:xfrm>
          <a:prstGeom prst="rect">
            <a:avLst/>
          </a:prstGeom>
          <a:solidFill>
            <a:srgbClr val="0d2b55"/>
          </a:solidFill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274320" y="3657600"/>
            <a:ext cx="72720" cy="1170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502920" y="3730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6b6b"/>
                </a:solidFill>
                <a:effectLst/>
                <a:uFillTx/>
                <a:latin typeface="Calibri"/>
                <a:ea typeface="Calibri"/>
              </a:rPr>
              <a:t>Step 3 — Class Balancing (Upsampling)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502920" y="4050720"/>
            <a:ext cx="8229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Original ratio 2.13:1 (Rain:No Rain) causes biased training.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Minority class upsampled to 249 samples using sklearn resample with replacement. Final balanced dataset: 498 rows.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080" cy="5143320"/>
          </a:xfrm>
          <a:prstGeom prst="rect">
            <a:avLst/>
          </a:prstGeom>
          <a:solidFill>
            <a:srgbClr val="38b2d8"/>
          </a:solidFill>
          <a:ln w="12700">
            <a:solidFill>
              <a:srgbClr val="38b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182880" y="1828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38b2d8">
                    <a:alpha val="40000"/>
                  </a:srgbClr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27432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Building – Random Forest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274320" y="1005840"/>
            <a:ext cx="3840120" cy="1919880"/>
          </a:xfrm>
          <a:prstGeom prst="rect">
            <a:avLst/>
          </a:prstGeom>
          <a:solidFill>
            <a:srgbClr val="0d2b55"/>
          </a:solidFill>
          <a:ln w="12700">
            <a:solidFill>
              <a:srgbClr val="38b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57200" y="10972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38b2d8"/>
                </a:solidFill>
                <a:effectLst/>
                <a:uFillTx/>
                <a:latin typeface="Calibri"/>
                <a:ea typeface="Calibri"/>
              </a:rPr>
              <a:t>Why Random Forest?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457200" y="1508760"/>
            <a:ext cx="3474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✓  Handles non-linear feature relationships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57200" y="1847160"/>
            <a:ext cx="3474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✓  Built-in feature importance ranking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457200" y="2185560"/>
            <a:ext cx="3474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✓  Robust to outliers in weather data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457200" y="2523600"/>
            <a:ext cx="3474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✓  Reduces overfitting vs. single Decision Tree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274320" y="3063240"/>
            <a:ext cx="3840120" cy="1737000"/>
          </a:xfrm>
          <a:prstGeom prst="rect">
            <a:avLst/>
          </a:prstGeom>
          <a:solidFill>
            <a:srgbClr val="0d2b55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457200" y="31546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GridSearchCV Params  (CV=5, F1 scoring)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Table 0"/>
          <p:cNvGraphicFramePr/>
          <p:nvPr/>
        </p:nvGraphicFramePr>
        <p:xfrm>
          <a:off x="365760" y="3566160"/>
          <a:ext cx="3565800" cy="1013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38b2d8"/>
                          </a:solidFill>
                          <a:effectLst/>
                          <a:uFillTx/>
                          <a:latin typeface="Calibri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38b2d8"/>
                          </a:solidFill>
                          <a:effectLst/>
                          <a:uFillTx/>
                          <a:latin typeface="Calibri"/>
                        </a:rPr>
                        <a:t>Values Tried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d2b55"/>
                    </a:solidFill>
                  </a:tcPr>
                </a:tc>
              </a:tr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n_estimators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a8e6f0"/>
                          </a:solidFill>
                          <a:effectLst/>
                          <a:uFillTx/>
                          <a:latin typeface="Calibri"/>
                        </a:rPr>
                        <a:t>100, 200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</a:tr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max_depth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a8e6f0"/>
                          </a:solidFill>
                          <a:effectLst/>
                          <a:uFillTx/>
                          <a:latin typeface="Calibri"/>
                        </a:rPr>
                        <a:t>None, 10, 20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</a:tr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min_samples_split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a8e6f0"/>
                          </a:solidFill>
                          <a:effectLst/>
                          <a:uFillTx/>
                          <a:latin typeface="Calibri"/>
                        </a:rPr>
                        <a:t>2, 5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  <p:sp>
        <p:nvSpPr>
          <p:cNvPr id="107" name="Shape 11"/>
          <p:cNvSpPr/>
          <p:nvPr/>
        </p:nvSpPr>
        <p:spPr>
          <a:xfrm>
            <a:off x="4572000" y="1005840"/>
            <a:ext cx="4297320" cy="379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52c4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4754880" y="10972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Best Parameters Found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4754880" y="1600200"/>
            <a:ext cx="3931560" cy="456840"/>
          </a:xfrm>
          <a:prstGeom prst="rect">
            <a:avLst/>
          </a:prstGeom>
          <a:solidFill>
            <a:srgbClr val="0a1e3c"/>
          </a:solidFill>
          <a:ln w="6350">
            <a:solidFill>
              <a:srgbClr val="1a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4846320" y="166428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n_estimators  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6766560" y="16642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4754880" y="2194560"/>
            <a:ext cx="3931560" cy="456840"/>
          </a:xfrm>
          <a:prstGeom prst="rect">
            <a:avLst/>
          </a:prstGeom>
          <a:solidFill>
            <a:srgbClr val="0a1e3c"/>
          </a:solidFill>
          <a:ln w="6350">
            <a:solidFill>
              <a:srgbClr val="1a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4846320" y="225864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max_depth  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8"/>
          <p:cNvSpPr/>
          <p:nvPr/>
        </p:nvSpPr>
        <p:spPr>
          <a:xfrm>
            <a:off x="6766560" y="225864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None (full trees)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4754880" y="2788920"/>
            <a:ext cx="3931560" cy="456840"/>
          </a:xfrm>
          <a:prstGeom prst="rect">
            <a:avLst/>
          </a:prstGeom>
          <a:solidFill>
            <a:srgbClr val="0a1e3c"/>
          </a:solidFill>
          <a:ln w="6350">
            <a:solidFill>
              <a:srgbClr val="1a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4846320" y="285300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min_samples_split  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6766560" y="28530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4754880" y="3383280"/>
            <a:ext cx="3931560" cy="456840"/>
          </a:xfrm>
          <a:prstGeom prst="rect">
            <a:avLst/>
          </a:prstGeom>
          <a:solidFill>
            <a:srgbClr val="0a1e3c"/>
          </a:solidFill>
          <a:ln w="6350">
            <a:solidFill>
              <a:srgbClr val="1a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3"/>
          <p:cNvSpPr/>
          <p:nvPr/>
        </p:nvSpPr>
        <p:spPr>
          <a:xfrm>
            <a:off x="4846320" y="34473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Best CV F1  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4"/>
          <p:cNvSpPr/>
          <p:nvPr/>
        </p:nvSpPr>
        <p:spPr>
          <a:xfrm>
            <a:off x="6766560" y="34473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~0.88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5"/>
          <p:cNvSpPr/>
          <p:nvPr/>
        </p:nvSpPr>
        <p:spPr>
          <a:xfrm>
            <a:off x="4572000" y="3977640"/>
            <a:ext cx="4297320" cy="822600"/>
          </a:xfrm>
          <a:prstGeom prst="rect">
            <a:avLst/>
          </a:prstGeom>
          <a:solidFill>
            <a:srgbClr val="0a1e3c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4663440" y="406908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Train / Test Split:  80% / 20%  |  Stratified  |  random_state=42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080" cy="5143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182880" y="1828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6b6b">
                    <a:alpha val="40000"/>
                  </a:srgbClr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27432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Evaluation &amp; Results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274320" y="1005840"/>
            <a:ext cx="1919880" cy="1371240"/>
          </a:xfrm>
          <a:prstGeom prst="rect">
            <a:avLst/>
          </a:prstGeom>
          <a:solidFill>
            <a:srgbClr val="0d2b55"/>
          </a:solidFill>
          <a:ln w="1905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274320" y="109728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7fa8"/>
                </a:solidFill>
                <a:effectLst/>
                <a:uFillTx/>
                <a:latin typeface="Calibri"/>
                <a:ea typeface="Calibri"/>
              </a:rPr>
              <a:t>89.0%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274320" y="1737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2423160" y="1005840"/>
            <a:ext cx="1919880" cy="1371240"/>
          </a:xfrm>
          <a:prstGeom prst="rect">
            <a:avLst/>
          </a:prstGeom>
          <a:solidFill>
            <a:srgbClr val="0d2b55"/>
          </a:solidFill>
          <a:ln w="19050">
            <a:solidFill>
              <a:srgbClr val="52c4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2423160" y="109728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93.3%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2423160" y="1737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4572000" y="1005840"/>
            <a:ext cx="1919880" cy="1371240"/>
          </a:xfrm>
          <a:prstGeom prst="rect">
            <a:avLst/>
          </a:prstGeom>
          <a:solidFill>
            <a:srgbClr val="0d2b55"/>
          </a:solidFill>
          <a:ln w="1905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4572000" y="109728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84.0%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4572000" y="1737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6720840" y="1005840"/>
            <a:ext cx="1919880" cy="1371240"/>
          </a:xfrm>
          <a:prstGeom prst="rect">
            <a:avLst/>
          </a:prstGeom>
          <a:solidFill>
            <a:srgbClr val="0d2b55"/>
          </a:solidFill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720840" y="109728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6b6b"/>
                </a:solidFill>
                <a:effectLst/>
                <a:uFillTx/>
                <a:latin typeface="Calibri"/>
                <a:ea typeface="Calibri"/>
              </a:rPr>
              <a:t>88.4%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6720840" y="1737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F1-Score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274320" y="2514600"/>
            <a:ext cx="8595000" cy="548280"/>
          </a:xfrm>
          <a:prstGeom prst="rect">
            <a:avLst/>
          </a:prstGeom>
          <a:solidFill>
            <a:srgbClr val="0d2b55"/>
          </a:solidFill>
          <a:ln w="12700">
            <a:solidFill>
              <a:srgbClr val="38b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457200" y="257868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38b2d8"/>
                </a:solidFill>
                <a:effectLst/>
                <a:uFillTx/>
                <a:latin typeface="Calibri"/>
                <a:ea typeface="Calibri"/>
              </a:rPr>
              <a:t>AUC-ROC Score:  ~0.94   –   Excellent discriminative ability between Rain and No Rain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274320" y="3200400"/>
            <a:ext cx="4114440" cy="1599840"/>
          </a:xfrm>
          <a:prstGeom prst="rect">
            <a:avLst/>
          </a:prstGeom>
          <a:solidFill>
            <a:srgbClr val="0d2b55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457200" y="32734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Top Feature Importances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457200" y="37306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Humidity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1600200" y="3749040"/>
            <a:ext cx="2486880" cy="145800"/>
          </a:xfrm>
          <a:prstGeom prst="rect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4133160" y="373068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85%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457200" y="39409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Dewpoint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1600200" y="3959280"/>
            <a:ext cx="2282040" cy="145800"/>
          </a:xfrm>
          <a:prstGeom prst="rect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3928320" y="39409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78%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457200" y="41515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Cloud Cover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1600200" y="4169520"/>
            <a:ext cx="1872360" cy="145800"/>
          </a:xfrm>
          <a:prstGeom prst="rect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3518640" y="4151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64%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457200" y="43617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Sunshine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9"/>
          <p:cNvSpPr/>
          <p:nvPr/>
        </p:nvSpPr>
        <p:spPr>
          <a:xfrm>
            <a:off x="1600200" y="4380120"/>
            <a:ext cx="1521360" cy="145800"/>
          </a:xfrm>
          <a:prstGeom prst="rect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0"/>
          <p:cNvSpPr/>
          <p:nvPr/>
        </p:nvSpPr>
        <p:spPr>
          <a:xfrm>
            <a:off x="3167640" y="43617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52%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457200" y="457200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Pressure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2"/>
          <p:cNvSpPr/>
          <p:nvPr/>
        </p:nvSpPr>
        <p:spPr>
          <a:xfrm>
            <a:off x="1600200" y="4590360"/>
            <a:ext cx="1111680" cy="145800"/>
          </a:xfrm>
          <a:prstGeom prst="rect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3"/>
          <p:cNvSpPr/>
          <p:nvPr/>
        </p:nvSpPr>
        <p:spPr>
          <a:xfrm>
            <a:off x="2757960" y="45720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38%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4663440" y="3200400"/>
            <a:ext cx="4205880" cy="1599840"/>
          </a:xfrm>
          <a:prstGeom prst="rect">
            <a:avLst/>
          </a:prstGeom>
          <a:solidFill>
            <a:srgbClr val="0d2b55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5"/>
          <p:cNvSpPr/>
          <p:nvPr/>
        </p:nvSpPr>
        <p:spPr>
          <a:xfrm>
            <a:off x="4846320" y="32734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7fa8"/>
                </a:solidFill>
                <a:effectLst/>
                <a:uFillTx/>
                <a:latin typeface="Calibri"/>
                <a:ea typeface="Calibri"/>
              </a:rPr>
              <a:t>Confusion Matrix Summary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Table 0"/>
          <p:cNvGraphicFramePr/>
          <p:nvPr/>
        </p:nvGraphicFramePr>
        <p:xfrm>
          <a:off x="4754880" y="3703320"/>
          <a:ext cx="3931560" cy="914040"/>
        </p:xfrm>
        <a:graphic>
          <a:graphicData uri="http://schemas.openxmlformats.org/drawingml/2006/table">
            <a:tbl>
              <a:tblPr/>
              <a:tblGrid>
                <a:gridCol w="1310400"/>
                <a:gridCol w="1310400"/>
                <a:gridCol w="1310400"/>
              </a:tblGrid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7aaccc"/>
                          </a:solidFill>
                          <a:effectLst/>
                          <a:uFillTx/>
                          <a:latin typeface="Calibri"/>
                        </a:rPr>
                        <a:t>Pred: No Rain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7aaccc"/>
                          </a:solidFill>
                          <a:effectLst/>
                          <a:uFillTx/>
                          <a:latin typeface="Calibri"/>
                        </a:rPr>
                        <a:t>Pred: Rain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7aaccc"/>
                          </a:solidFill>
                          <a:effectLst/>
                          <a:uFillTx/>
                          <a:latin typeface="Calibri"/>
                        </a:rPr>
                        <a:t>Actual: No Rain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52c47e"/>
                          </a:solidFill>
                          <a:effectLst/>
                          <a:uFillTx/>
                          <a:latin typeface="Calibri"/>
                        </a:rPr>
                        <a:t>TN = 42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ff6b6b"/>
                          </a:solidFill>
                          <a:effectLst/>
                          <a:uFillTx/>
                          <a:latin typeface="Calibri"/>
                        </a:rPr>
                        <a:t>FP = 3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7aaccc"/>
                          </a:solidFill>
                          <a:effectLst/>
                          <a:uFillTx/>
                          <a:latin typeface="Calibri"/>
                        </a:rPr>
                        <a:t>Actual: Rain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ff6b6b"/>
                          </a:solidFill>
                          <a:effectLst/>
                          <a:uFillTx/>
                          <a:latin typeface="Calibri"/>
                        </a:rPr>
                        <a:t>FN = 8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52c47e"/>
                          </a:solidFill>
                          <a:effectLst/>
                          <a:uFillTx/>
                          <a:latin typeface="Calibri"/>
                        </a:rPr>
                        <a:t>TP = 47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a4070"/>
                      </a:solidFill>
                      <a:prstDash val="solid"/>
                    </a:lnL>
                    <a:lnR w="6480">
                      <a:solidFill>
                        <a:srgbClr val="1a4070"/>
                      </a:solidFill>
                      <a:prstDash val="solid"/>
                    </a:lnR>
                    <a:lnT w="6480">
                      <a:solidFill>
                        <a:srgbClr val="1a4070"/>
                      </a:solidFill>
                      <a:prstDash val="solid"/>
                    </a:lnT>
                    <a:lnB w="6480">
                      <a:solidFill>
                        <a:srgbClr val="1a4070"/>
                      </a:solidFill>
                      <a:prstDash val="solid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7fa8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274320" y="1828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1a7fa8">
                    <a:alpha val="40000"/>
                  </a:srgbClr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27432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Summary &amp; Conclusions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274320" y="1005840"/>
            <a:ext cx="5120280" cy="3565800"/>
          </a:xfrm>
          <a:prstGeom prst="rect">
            <a:avLst/>
          </a:prstGeom>
          <a:solidFill>
            <a:srgbClr val="0d2b55"/>
          </a:solidFill>
          <a:ln w="12700">
            <a:solidFill>
              <a:srgbClr val="1a7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457200" y="10972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38b2d8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457200" y="160020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822960" y="160920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High Accuracy: 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822960" y="181044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89% accuracy with F1-Score of 88.4% confirms strong model performance.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457200" y="219456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🌊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822960" y="220356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Top Predictors: 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822960" y="24048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Humidity, dewpoint, and cloud cover dominate prediction importance.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457200" y="278892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⚖️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822960" y="279792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Class Balancing Works: 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822960" y="299916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Upsampling the minority class prevented model bias toward 'Rain'.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457200" y="338328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🔍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822960" y="339228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GridSearch Value: 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822960" y="359352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Hyperparameter tuning via 5-fold CV ensured optimal generalization.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457200" y="39776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💾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822960" y="398664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8e6f0"/>
                </a:solidFill>
                <a:effectLst/>
                <a:uFillTx/>
                <a:latin typeface="Calibri"/>
                <a:ea typeface="Calibri"/>
              </a:rPr>
              <a:t>Deployable Model: 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822960" y="418788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Model saved as .pkl — ready for integration in production pipelines.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0"/>
          <p:cNvSpPr/>
          <p:nvPr/>
        </p:nvSpPr>
        <p:spPr>
          <a:xfrm>
            <a:off x="5577840" y="1005840"/>
            <a:ext cx="3291480" cy="1645560"/>
          </a:xfrm>
          <a:prstGeom prst="rect">
            <a:avLst/>
          </a:prstGeom>
          <a:solidFill>
            <a:srgbClr val="0d2b55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1"/>
          <p:cNvSpPr/>
          <p:nvPr/>
        </p:nvSpPr>
        <p:spPr>
          <a:xfrm>
            <a:off x="5760720" y="109728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Final Metrics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5760720" y="15087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7315200" y="15087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89.0%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5760720" y="17283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7315200" y="17283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93.3%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5760720" y="194760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Recall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7315200" y="19476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84.0%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8"/>
          <p:cNvSpPr/>
          <p:nvPr/>
        </p:nvSpPr>
        <p:spPr>
          <a:xfrm>
            <a:off x="5760720" y="216720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F1-Score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9"/>
          <p:cNvSpPr/>
          <p:nvPr/>
        </p:nvSpPr>
        <p:spPr>
          <a:xfrm>
            <a:off x="7315200" y="21672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88.4%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0"/>
          <p:cNvSpPr/>
          <p:nvPr/>
        </p:nvSpPr>
        <p:spPr>
          <a:xfrm>
            <a:off x="5760720" y="23864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aaccc"/>
                </a:solidFill>
                <a:effectLst/>
                <a:uFillTx/>
                <a:latin typeface="Calibri"/>
                <a:ea typeface="Calibri"/>
              </a:rPr>
              <a:t>AUC-ROC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1"/>
          <p:cNvSpPr/>
          <p:nvPr/>
        </p:nvSpPr>
        <p:spPr>
          <a:xfrm>
            <a:off x="7315200" y="23864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c842"/>
                </a:solidFill>
                <a:effectLst/>
                <a:uFillTx/>
                <a:latin typeface="Calibri"/>
                <a:ea typeface="Calibri"/>
              </a:rPr>
              <a:t>~0.94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2"/>
          <p:cNvSpPr/>
          <p:nvPr/>
        </p:nvSpPr>
        <p:spPr>
          <a:xfrm>
            <a:off x="5577840" y="2788920"/>
            <a:ext cx="3291480" cy="1828440"/>
          </a:xfrm>
          <a:prstGeom prst="rect">
            <a:avLst/>
          </a:prstGeom>
          <a:solidFill>
            <a:srgbClr val="0d2b55"/>
          </a:solidFill>
          <a:ln w="12700">
            <a:solidFill>
              <a:srgbClr val="52c4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3"/>
          <p:cNvSpPr/>
          <p:nvPr/>
        </p:nvSpPr>
        <p:spPr>
          <a:xfrm>
            <a:off x="5760720" y="288036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52c47e"/>
                </a:solidFill>
                <a:effectLst/>
                <a:uFillTx/>
                <a:latin typeface="Calibri"/>
                <a:ea typeface="Calibri"/>
              </a:rPr>
              <a:t>Future Improvements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4"/>
          <p:cNvSpPr/>
          <p:nvPr/>
        </p:nvSpPr>
        <p:spPr>
          <a:xfrm>
            <a:off x="5760720" y="32918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→  Try XGBoost / LightGBM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5"/>
          <p:cNvSpPr/>
          <p:nvPr/>
        </p:nvSpPr>
        <p:spPr>
          <a:xfrm>
            <a:off x="5760720" y="36028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→  SMOTE for better balancing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6"/>
          <p:cNvSpPr/>
          <p:nvPr/>
        </p:nvSpPr>
        <p:spPr>
          <a:xfrm>
            <a:off x="5760720" y="39135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→  Add time-series lag features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7"/>
          <p:cNvSpPr/>
          <p:nvPr/>
        </p:nvSpPr>
        <p:spPr>
          <a:xfrm>
            <a:off x="5760720" y="42246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a"/>
                </a:solidFill>
                <a:effectLst/>
                <a:uFillTx/>
                <a:latin typeface="Calibri"/>
                <a:ea typeface="Calibri"/>
              </a:rPr>
              <a:t>→  Deploy as REST API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8"/>
          <p:cNvSpPr/>
          <p:nvPr/>
        </p:nvSpPr>
        <p:spPr>
          <a:xfrm>
            <a:off x="0" y="4773240"/>
            <a:ext cx="9143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Rainfall Prediction  •  Random Forest Classifier  •  ML Project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2026-04-08T15:21:13Z</dcterms:created>
  <dc:creator>PptxGenJS</dc:creator>
  <dc:description/>
  <dc:language>en-US</dc:language>
  <cp:lastModifiedBy/>
  <dcterms:modified xsi:type="dcterms:W3CDTF">2026-04-08T23:02:06Z</dcterms:modified>
  <cp:revision>2</cp:revision>
  <dc:subject>PptxGenJS Presentation</dc:subject>
  <dc:title>Rainfall Prediction – Random Forest Classifier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